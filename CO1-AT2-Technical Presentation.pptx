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0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92440" y="0"/>
            <a:ext cx="4096512" cy="6858000"/>
          </a:xfrm>
          <a:prstGeom prst="rect">
            <a:avLst/>
          </a:prstGeom>
          <a:solidFill>
            <a:srgbClr val="193D60"/>
          </a:solidFill>
          <a:ln>
            <a:solidFill>
              <a:srgbClr val="19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58200" y="1097280"/>
            <a:ext cx="1143000" cy="502920"/>
          </a:xfrm>
          <a:prstGeom prst="roundRect">
            <a:avLst>
              <a:gd name="adj" fmla="val 12000"/>
            </a:avLst>
          </a:prstGeom>
          <a:solidFill>
            <a:srgbClr val="214E74"/>
          </a:solidFill>
          <a:ln>
            <a:solidFill>
              <a:srgbClr val="346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94776" y="1143000"/>
            <a:ext cx="1069848" cy="3657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008F97"/>
                </a:solidFill>
                <a:latin typeface="Consolas"/>
              </a:defRPr>
            </a:pPr>
            <a:r>
              <a:t>\d+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1828800"/>
            <a:ext cx="1417320" cy="502920"/>
          </a:xfrm>
          <a:prstGeom prst="roundRect">
            <a:avLst>
              <a:gd name="adj" fmla="val 12000"/>
            </a:avLst>
          </a:prstGeom>
          <a:solidFill>
            <a:srgbClr val="214E74"/>
          </a:solidFill>
          <a:ln>
            <a:solidFill>
              <a:srgbClr val="346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20655" y="1874519"/>
            <a:ext cx="1344168" cy="3657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EB9132"/>
                </a:solidFill>
                <a:latin typeface="Consolas"/>
              </a:defRPr>
            </a:pPr>
            <a:r>
              <a:t>\w+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2743200"/>
            <a:ext cx="1005840" cy="502920"/>
          </a:xfrm>
          <a:prstGeom prst="roundRect">
            <a:avLst>
              <a:gd name="adj" fmla="val 12000"/>
            </a:avLst>
          </a:prstGeom>
          <a:solidFill>
            <a:srgbClr val="214E74"/>
          </a:solidFill>
          <a:ln>
            <a:solidFill>
              <a:srgbClr val="346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69096" y="2788920"/>
            <a:ext cx="932688" cy="3657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69AEDB"/>
                </a:solidFill>
                <a:latin typeface="Consolas"/>
              </a:defRPr>
            </a:pPr>
            <a:r>
              <a:t>\b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49840" y="3657600"/>
            <a:ext cx="594360" cy="502920"/>
          </a:xfrm>
          <a:prstGeom prst="roundRect">
            <a:avLst>
              <a:gd name="adj" fmla="val 12000"/>
            </a:avLst>
          </a:prstGeom>
          <a:solidFill>
            <a:srgbClr val="214E74"/>
          </a:solidFill>
          <a:ln>
            <a:solidFill>
              <a:srgbClr val="346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86415" y="3703320"/>
            <a:ext cx="521208" cy="3657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008F97"/>
                </a:solidFill>
                <a:latin typeface="Consolas"/>
              </a:defRPr>
            </a:pPr>
            <a:r>
              <a:t>@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4572000"/>
            <a:ext cx="1508760" cy="502920"/>
          </a:xfrm>
          <a:prstGeom prst="roundRect">
            <a:avLst>
              <a:gd name="adj" fmla="val 12000"/>
            </a:avLst>
          </a:prstGeom>
          <a:solidFill>
            <a:srgbClr val="214E74"/>
          </a:solidFill>
          <a:ln>
            <a:solidFill>
              <a:srgbClr val="346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86215" y="4617720"/>
            <a:ext cx="1435607" cy="3657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EB9132"/>
                </a:solidFill>
                <a:latin typeface="Consolas"/>
              </a:defRPr>
            </a:pPr>
            <a:r>
              <a:t>[A-Z]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0" y="5303520"/>
            <a:ext cx="822960" cy="502920"/>
          </a:xfrm>
          <a:prstGeom prst="roundRect">
            <a:avLst>
              <a:gd name="adj" fmla="val 12000"/>
            </a:avLst>
          </a:prstGeom>
          <a:solidFill>
            <a:srgbClr val="214E74"/>
          </a:solidFill>
          <a:ln>
            <a:solidFill>
              <a:srgbClr val="346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77855" y="5349240"/>
            <a:ext cx="749808" cy="3657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69AEDB"/>
                </a:solidFill>
                <a:latin typeface="Consolas"/>
              </a:defRPr>
            </a:pPr>
            <a:r>
              <a:t>\s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86405"/>
            <a:ext cx="67665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74DADA"/>
                </a:solidFill>
                <a:latin typeface="Aptos"/>
              </a:defRPr>
            </a:pPr>
            <a:r>
              <a:rPr dirty="0"/>
              <a:t>TECHNICAL PRESENTATION  |  TP-03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" y="671884"/>
            <a:ext cx="6995160" cy="1554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Regular Expressions</a:t>
            </a:r>
          </a:p>
          <a:p>
            <a:pPr algn="l">
              <a:spcAft>
                <a:spcPts val="5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for Real-World Text 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958009"/>
            <a:ext cx="6309360" cy="8229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D3E2EF"/>
                </a:solidFill>
                <a:latin typeface="Aptos"/>
              </a:defRPr>
            </a:pPr>
            <a:r>
              <a:rPr dirty="0"/>
              <a:t>Pattern Matching • Data Validation • Information Extraction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" y="3429000"/>
            <a:ext cx="1097280" cy="54864"/>
          </a:xfrm>
          <a:prstGeom prst="rect">
            <a:avLst/>
          </a:prstGeom>
          <a:solidFill>
            <a:srgbClr val="EB9132"/>
          </a:solidFill>
          <a:ln>
            <a:solidFill>
              <a:srgbClr val="EB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2570259"/>
            <a:ext cx="5943600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rPr dirty="0"/>
              <a:t>A practical introduction to finding, validating, and extracting patterns in text.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8FA248-2492-CC37-5748-594B8B27CECB}"/>
              </a:ext>
            </a:extLst>
          </p:cNvPr>
          <p:cNvSpPr txBox="1"/>
          <p:nvPr/>
        </p:nvSpPr>
        <p:spPr>
          <a:xfrm>
            <a:off x="804672" y="3886200"/>
            <a:ext cx="64389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NANDU VARDHAN</a:t>
            </a:r>
            <a:b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REG: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192425067</a:t>
            </a: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FACULTY: Veeramani 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4304E"/>
                </a:solidFill>
                <a:latin typeface="Aptos"/>
              </a:defRPr>
            </a:pPr>
            <a:r>
              <a:t>Why Text Processing Needs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51560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008F97"/>
                </a:solidFill>
                <a:latin typeface="Aptos"/>
              </a:defRPr>
            </a:pPr>
            <a:r>
              <a:t>01 • 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13716"/>
          </a:xfrm>
          <a:prstGeom prst="rect">
            <a:avLst/>
          </a:prstGeom>
          <a:solidFill>
            <a:srgbClr val="D2DDE8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92240"/>
            <a:ext cx="45720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5F6C7A"/>
                </a:solidFill>
                <a:latin typeface="Aptos"/>
              </a:defRPr>
            </a:pPr>
            <a:r>
              <a:t>TECHNICAL PRESENTATION • TP-03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5F6C7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493776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14304E"/>
                </a:solidFill>
                <a:latin typeface="Aptos"/>
              </a:defRPr>
            </a:pPr>
            <a:r>
              <a:t>Real-world text is messy, varied, and unstructured.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4937760" cy="347472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C37"/>
                </a:solidFill>
                <a:latin typeface="Aptos"/>
              </a:defRPr>
            </a:pPr>
            <a:r>
              <a:t>• Different formats: phone numbers, dates, IDs, and email addresses appear in many forms.</a:t>
            </a:r>
          </a:p>
          <a:p>
            <a:pPr>
              <a:spcAft>
                <a:spcPts val="1200"/>
              </a:spcAft>
              <a:defRPr sz="1600">
                <a:solidFill>
                  <a:srgbClr val="232C37"/>
                </a:solidFill>
                <a:latin typeface="Aptos"/>
              </a:defRPr>
            </a:pPr>
            <a:r>
              <a:t>• Large volumes: manual checking becomes slow and inconsistent in logs, forms, and documents.</a:t>
            </a:r>
          </a:p>
          <a:p>
            <a:pPr>
              <a:spcAft>
                <a:spcPts val="1200"/>
              </a:spcAft>
              <a:defRPr sz="1600">
                <a:solidFill>
                  <a:srgbClr val="232C37"/>
                </a:solidFill>
                <a:latin typeface="Aptos"/>
              </a:defRPr>
            </a:pPr>
            <a:r>
              <a:t>• Repeated tasks: applications often need to find the same type of information again and again.</a:t>
            </a:r>
          </a:p>
          <a:p>
            <a:pPr>
              <a:spcAft>
                <a:spcPts val="1200"/>
              </a:spcAft>
              <a:defRPr sz="1600">
                <a:solidFill>
                  <a:srgbClr val="232C37"/>
                </a:solidFill>
                <a:latin typeface="Aptos"/>
              </a:defRPr>
            </a:pPr>
            <a:r>
              <a:t>• Consistency: a pattern applies the same rule to every input.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011680"/>
            <a:ext cx="1600200" cy="196596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2176272"/>
            <a:ext cx="1325880" cy="310896"/>
          </a:xfrm>
          <a:prstGeom prst="roundRect">
            <a:avLst>
              <a:gd name="adj" fmla="val 12000"/>
            </a:avLst>
          </a:prstGeom>
          <a:solidFill>
            <a:srgbClr val="2467A0"/>
          </a:solidFill>
          <a:ln>
            <a:solidFill>
              <a:srgbClr val="246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54496" y="2199132"/>
            <a:ext cx="1252728" cy="23774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697480"/>
            <a:ext cx="1325880" cy="10515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232C37"/>
                </a:solidFill>
                <a:latin typeface="Aptos"/>
              </a:defRPr>
            </a:pPr>
            <a:r>
              <a:t>Contact: maya@example.com</a:t>
            </a:r>
          </a:p>
          <a:p>
            <a:pPr algn="ctr">
              <a:spcAft>
                <a:spcPts val="500"/>
              </a:spcAft>
              <a:defRPr sz="1200" b="0">
                <a:solidFill>
                  <a:srgbClr val="232C37"/>
                </a:solidFill>
                <a:latin typeface="Aptos"/>
              </a:defRPr>
            </a:pPr>
            <a:r>
              <a:t>Call: +91 98765 43210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2743200"/>
            <a:ext cx="2743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008F9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2011680"/>
            <a:ext cx="1600200" cy="196596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92440" y="2176272"/>
            <a:ext cx="1325880" cy="310896"/>
          </a:xfrm>
          <a:prstGeom prst="roundRect">
            <a:avLst>
              <a:gd name="adj" fmla="val 12000"/>
            </a:avLst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29015" y="2199132"/>
            <a:ext cx="1252728" cy="23774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PATTERN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697480"/>
            <a:ext cx="1325880" cy="10515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232C37"/>
                </a:solidFill>
                <a:latin typeface="Consolas"/>
              </a:defRPr>
            </a:pPr>
            <a:r>
              <a:t>[\w.-]+@[\w.-]+\.\w+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3767" y="2743200"/>
            <a:ext cx="2743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008F9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2011680"/>
            <a:ext cx="1600200" cy="196596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966960" y="2176272"/>
            <a:ext cx="1325880" cy="310896"/>
          </a:xfrm>
          <a:prstGeom prst="roundRect">
            <a:avLst>
              <a:gd name="adj" fmla="val 12000"/>
            </a:avLst>
          </a:prstGeom>
          <a:solidFill>
            <a:srgbClr val="2A8B5C"/>
          </a:solidFill>
          <a:ln>
            <a:solidFill>
              <a:srgbClr val="2A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03536" y="2199132"/>
            <a:ext cx="1252728" cy="23774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2697480"/>
            <a:ext cx="1325880" cy="10515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232C37"/>
                </a:solidFill>
                <a:latin typeface="Aptos"/>
              </a:defRPr>
            </a:pPr>
            <a:r>
              <a:t>Email found:</a:t>
            </a:r>
          </a:p>
          <a:p>
            <a:pPr algn="ctr">
              <a:spcAft>
                <a:spcPts val="500"/>
              </a:spcAft>
              <a:defRPr sz="1200" b="0">
                <a:solidFill>
                  <a:srgbClr val="232C37"/>
                </a:solidFill>
                <a:latin typeface="Aptos"/>
              </a:defRPr>
            </a:pPr>
            <a:r>
              <a:t>maya@example.com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434840"/>
            <a:ext cx="5486400" cy="731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14304E"/>
                </a:solidFill>
                <a:latin typeface="Aptos"/>
              </a:defRPr>
            </a:pPr>
            <a:r>
              <a:t>Pattern matching turns unstructured text into useful, searchable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4304E"/>
                </a:solidFill>
                <a:latin typeface="Aptos"/>
              </a:defRPr>
            </a:pPr>
            <a:r>
              <a:t>What Is a Regular Expression?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51560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008F97"/>
                </a:solidFill>
                <a:latin typeface="Aptos"/>
              </a:defRPr>
            </a:pPr>
            <a:r>
              <a:t>02 • CORE CONCEPT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13716"/>
          </a:xfrm>
          <a:prstGeom prst="rect">
            <a:avLst/>
          </a:prstGeom>
          <a:solidFill>
            <a:srgbClr val="D2DDE8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92240"/>
            <a:ext cx="45720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5F6C7A"/>
                </a:solidFill>
                <a:latin typeface="Aptos"/>
              </a:defRPr>
            </a:pPr>
            <a:r>
              <a:t>TECHNICAL PRESENTATION • TP-03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5F6C7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53312"/>
            <a:ext cx="10789920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14304E"/>
                </a:solidFill>
                <a:latin typeface="Aptos"/>
              </a:defRPr>
            </a:pPr>
            <a:r>
              <a:t>A regular expression (regex) is a sequence of characters that describes a search pattern.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5212080" cy="320040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32C37"/>
                </a:solidFill>
                <a:latin typeface="Aptos"/>
              </a:defRPr>
            </a:pPr>
            <a:r>
              <a:t>• Literal characters match exact text, such as cat.</a:t>
            </a:r>
          </a:p>
          <a:p>
            <a:pPr>
              <a:spcAft>
                <a:spcPts val="1100"/>
              </a:spcAft>
              <a:defRPr sz="1600">
                <a:solidFill>
                  <a:srgbClr val="232C37"/>
                </a:solidFill>
                <a:latin typeface="Aptos"/>
              </a:defRPr>
            </a:pPr>
            <a:r>
              <a:t>• Character classes match a set or range, such as [A-Z].</a:t>
            </a:r>
          </a:p>
          <a:p>
            <a:pPr>
              <a:spcAft>
                <a:spcPts val="1100"/>
              </a:spcAft>
              <a:defRPr sz="1600">
                <a:solidFill>
                  <a:srgbClr val="232C37"/>
                </a:solidFill>
                <a:latin typeface="Aptos"/>
              </a:defRPr>
            </a:pPr>
            <a:r>
              <a:t>• Quantifiers control repetition, such as +, *, and {2,4}.</a:t>
            </a:r>
          </a:p>
          <a:p>
            <a:pPr>
              <a:spcAft>
                <a:spcPts val="1100"/>
              </a:spcAft>
              <a:defRPr sz="1600">
                <a:solidFill>
                  <a:srgbClr val="232C37"/>
                </a:solidFill>
                <a:latin typeface="Aptos"/>
              </a:defRPr>
            </a:pPr>
            <a:r>
              <a:t>• Anchors specify positions, such as start ^ and end $.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965960"/>
            <a:ext cx="5074920" cy="3337560"/>
          </a:xfrm>
          <a:prstGeom prst="roundRect">
            <a:avLst>
              <a:gd name="adj" fmla="val 12000"/>
            </a:avLst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2240280"/>
            <a:ext cx="44805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008F97"/>
                </a:solidFill>
                <a:latin typeface="Aptos"/>
              </a:defRPr>
            </a:pPr>
            <a:r>
              <a:t>EXAMPLE 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697480"/>
            <a:ext cx="44805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4304E"/>
                </a:solidFill>
                <a:latin typeface="Consolas"/>
              </a:defRPr>
            </a:pPr>
            <a:r>
              <a:t>\d{3}-\d{2}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337560"/>
            <a:ext cx="43891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2A8B5C"/>
                </a:solidFill>
                <a:latin typeface="Consolas"/>
              </a:defRPr>
            </a:pPr>
            <a:r>
              <a:t>Matches:  123-45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886200"/>
            <a:ext cx="4389120" cy="731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32C37"/>
                </a:solidFill>
                <a:latin typeface="Aptos"/>
              </a:defRPr>
            </a:pPr>
            <a:r>
              <a:t>Meaning: three digits, a hyphen, then two digits.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709160"/>
            <a:ext cx="43891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BC3E3E"/>
                </a:solidFill>
                <a:latin typeface="Aptos"/>
              </a:defRPr>
            </a:pPr>
            <a:r>
              <a:t>A format match does not prove the value is meaningful.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4304E"/>
                </a:solidFill>
                <a:latin typeface="Aptos"/>
              </a:defRPr>
            </a:pPr>
            <a:r>
              <a:t>Essential Regex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51560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008F97"/>
                </a:solidFill>
                <a:latin typeface="Aptos"/>
              </a:defRPr>
            </a:pPr>
            <a:r>
              <a:t>03 • PATTERN VOCABULARY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13716"/>
          </a:xfrm>
          <a:prstGeom prst="rect">
            <a:avLst/>
          </a:prstGeom>
          <a:solidFill>
            <a:srgbClr val="D2DDE8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92240"/>
            <a:ext cx="45720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5F6C7A"/>
                </a:solidFill>
                <a:latin typeface="Aptos"/>
              </a:defRPr>
            </a:pPr>
            <a:r>
              <a:t>TECHNICAL PRESENTATION • TP-03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5F6C7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53312"/>
            <a:ext cx="10835640" cy="438912"/>
          </a:xfrm>
          <a:prstGeom prst="rect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19" y="1426464"/>
            <a:ext cx="1307592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Token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6272" y="1426464"/>
            <a:ext cx="1856231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5112" y="1426464"/>
            <a:ext cx="1581912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426464"/>
            <a:ext cx="5193792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How to read 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792224"/>
            <a:ext cx="108356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19" y="1883664"/>
            <a:ext cx="130759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008F97"/>
                </a:solidFill>
                <a:latin typeface="Consolas"/>
              </a:defRPr>
            </a:pPr>
            <a:r>
              <a:t>\d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76272" y="1883664"/>
            <a:ext cx="1856231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C37"/>
                </a:solidFill>
                <a:latin typeface="Aptos"/>
              </a:defRPr>
            </a:pPr>
            <a:r>
              <a:t>A digit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5112" y="1883664"/>
            <a:ext cx="158191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C37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1883664"/>
            <a:ext cx="519379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C37"/>
                </a:solidFill>
                <a:latin typeface="Aptos"/>
              </a:defRPr>
            </a:pPr>
            <a:r>
              <a:t>Matches one numeric digit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359152"/>
            <a:ext cx="10835640" cy="566928"/>
          </a:xfrm>
          <a:prstGeom prst="rect">
            <a:avLst/>
          </a:prstGeom>
          <a:solidFill>
            <a:srgbClr val="F7F9FC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19" y="2450592"/>
            <a:ext cx="130759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008F97"/>
                </a:solidFill>
                <a:latin typeface="Consolas"/>
              </a:defRPr>
            </a:pPr>
            <a:r>
              <a:t>\w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6272" y="2450592"/>
            <a:ext cx="1856231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C37"/>
                </a:solidFill>
                <a:latin typeface="Aptos"/>
              </a:defRPr>
            </a:pPr>
            <a:r>
              <a:t>Word character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2450592"/>
            <a:ext cx="158191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C37"/>
                </a:solidFill>
                <a:latin typeface="Aptos"/>
              </a:defRPr>
            </a:pPr>
            <a:r>
              <a:t>A, x, 4, 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2" y="2450592"/>
            <a:ext cx="519379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C37"/>
                </a:solidFill>
                <a:latin typeface="Aptos"/>
              </a:defRPr>
            </a:pPr>
            <a:r>
              <a:t>Letters, digits, underscore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2926080"/>
            <a:ext cx="108356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19" y="3017520"/>
            <a:ext cx="130759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008F97"/>
                </a:solidFill>
                <a:latin typeface="Consolas"/>
              </a:defRPr>
            </a:pPr>
            <a:r>
              <a:t>\s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76272" y="3017520"/>
            <a:ext cx="1856231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C37"/>
                </a:solidFill>
                <a:latin typeface="Aptos"/>
              </a:defRPr>
            </a:pPr>
            <a:r>
              <a:t>Whitespace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5112" y="3017520"/>
            <a:ext cx="158191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C37"/>
                </a:solidFill>
                <a:latin typeface="Aptos"/>
              </a:defRPr>
            </a:pPr>
            <a:r>
              <a:t>space / tab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2" y="3017520"/>
            <a:ext cx="519379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C37"/>
                </a:solidFill>
                <a:latin typeface="Aptos"/>
              </a:defRPr>
            </a:pPr>
            <a:r>
              <a:t>Spacing characters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93008"/>
            <a:ext cx="10835640" cy="566928"/>
          </a:xfrm>
          <a:prstGeom prst="rect">
            <a:avLst/>
          </a:prstGeom>
          <a:solidFill>
            <a:srgbClr val="F7F9FC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19" y="3584448"/>
            <a:ext cx="130759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008F97"/>
                </a:solidFill>
                <a:latin typeface="Consolas"/>
              </a:defRPr>
            </a:pPr>
            <a:r>
              <a:t>[A-Z]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76272" y="3584448"/>
            <a:ext cx="1856231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C37"/>
                </a:solidFill>
                <a:latin typeface="Aptos"/>
              </a:defRPr>
            </a:pPr>
            <a:r>
              <a:t>Character range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25112" y="3584448"/>
            <a:ext cx="158191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C37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9632" y="3584448"/>
            <a:ext cx="519379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C37"/>
                </a:solidFill>
                <a:latin typeface="Aptos"/>
              </a:defRPr>
            </a:pPr>
            <a:r>
              <a:t>One uppercase English letter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059935"/>
            <a:ext cx="108356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19" y="4151375"/>
            <a:ext cx="130759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008F97"/>
                </a:solidFill>
                <a:latin typeface="Consolas"/>
              </a:defRPr>
            </a:pPr>
            <a:r>
              <a:t>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76272" y="4151375"/>
            <a:ext cx="1856231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C37"/>
                </a:solidFill>
                <a:latin typeface="Aptos"/>
              </a:defRPr>
            </a:pPr>
            <a:r>
              <a:t>One or more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25112" y="4151375"/>
            <a:ext cx="158191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C37"/>
                </a:solidFill>
                <a:latin typeface="Aptos"/>
              </a:defRPr>
            </a:pPr>
            <a:r>
              <a:t>abc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9632" y="4151375"/>
            <a:ext cx="519379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C37"/>
                </a:solidFill>
                <a:latin typeface="Aptos"/>
              </a:defRPr>
            </a:pPr>
            <a:r>
              <a:t>Repeats previous token one or more times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626864"/>
            <a:ext cx="10835640" cy="566928"/>
          </a:xfrm>
          <a:prstGeom prst="rect">
            <a:avLst/>
          </a:prstGeom>
          <a:solidFill>
            <a:srgbClr val="F7F9FC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19" y="4718304"/>
            <a:ext cx="130759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008F97"/>
                </a:solidFill>
                <a:latin typeface="Consolas"/>
              </a:defRPr>
            </a:pPr>
            <a:r>
              <a:t>*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76272" y="4718304"/>
            <a:ext cx="1856231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C37"/>
                </a:solidFill>
                <a:latin typeface="Aptos"/>
              </a:defRPr>
            </a:pPr>
            <a:r>
              <a:t>Zero or more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25112" y="4718304"/>
            <a:ext cx="158191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C37"/>
                </a:solidFill>
                <a:latin typeface="Aptos"/>
              </a:defRPr>
            </a:pPr>
            <a:r>
              <a:t>ab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99632" y="4718304"/>
            <a:ext cx="519379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C37"/>
                </a:solidFill>
                <a:latin typeface="Aptos"/>
              </a:defRPr>
            </a:pPr>
            <a:r>
              <a:t>Repeats previous token zero or more times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193792"/>
            <a:ext cx="108356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1519" y="5285231"/>
            <a:ext cx="130759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008F97"/>
                </a:solidFill>
                <a:latin typeface="Consolas"/>
              </a:defRPr>
            </a:pPr>
            <a:r>
              <a:t>{2,4}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76272" y="5285231"/>
            <a:ext cx="1856231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C37"/>
                </a:solidFill>
                <a:latin typeface="Aptos"/>
              </a:defRPr>
            </a:pPr>
            <a:r>
              <a:t>Repetition range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25112" y="5285231"/>
            <a:ext cx="158191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C37"/>
                </a:solidFill>
                <a:latin typeface="Aptos"/>
              </a:defRPr>
            </a:pPr>
            <a:r>
              <a:t>123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99632" y="5285231"/>
            <a:ext cx="519379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C37"/>
                </a:solidFill>
                <a:latin typeface="Aptos"/>
              </a:defRPr>
            </a:pPr>
            <a:r>
              <a:t>Two to four repetitions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" y="5760720"/>
            <a:ext cx="10835640" cy="566928"/>
          </a:xfrm>
          <a:prstGeom prst="rect">
            <a:avLst/>
          </a:prstGeom>
          <a:solidFill>
            <a:srgbClr val="F7F9FC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31519" y="5852159"/>
            <a:ext cx="130759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008F97"/>
                </a:solidFill>
                <a:latin typeface="Consolas"/>
              </a:defRPr>
            </a:pPr>
            <a:r>
              <a:t>^  $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76272" y="5852159"/>
            <a:ext cx="1856231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C37"/>
                </a:solidFill>
                <a:latin typeface="Aptos"/>
              </a:defRPr>
            </a:pPr>
            <a:r>
              <a:t>Anchors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25112" y="5852159"/>
            <a:ext cx="158191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C37"/>
                </a:solidFill>
                <a:latin typeface="Aptos"/>
              </a:defRPr>
            </a:pPr>
            <a:r>
              <a:t>start / end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99632" y="5852159"/>
            <a:ext cx="519379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C37"/>
                </a:solidFill>
                <a:latin typeface="Aptos"/>
              </a:defRPr>
            </a:pPr>
            <a:r>
              <a:t>Match a position, not a character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6382512"/>
            <a:ext cx="106070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5F6C7A"/>
                </a:solidFill>
                <a:latin typeface="Aptos"/>
              </a:defRPr>
            </a:pPr>
            <a:r>
              <a:t>Tip: regex behavior depends on the programming language and flags; test patterns against representative examples.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4304E"/>
                </a:solidFill>
                <a:latin typeface="Aptos"/>
              </a:defRPr>
            </a:pPr>
            <a:r>
              <a:t>Using Regular Expressions in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51560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008F97"/>
                </a:solidFill>
                <a:latin typeface="Aptos"/>
              </a:defRPr>
            </a:pPr>
            <a:r>
              <a:t>04 • PRACTICAL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13716"/>
          </a:xfrm>
          <a:prstGeom prst="rect">
            <a:avLst/>
          </a:prstGeom>
          <a:solidFill>
            <a:srgbClr val="D2DDE8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92240"/>
            <a:ext cx="45720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5F6C7A"/>
                </a:solidFill>
                <a:latin typeface="Aptos"/>
              </a:defRPr>
            </a:pPr>
            <a:r>
              <a:t>TECHNICAL PRESENTATION • TP-03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5F6C7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25880"/>
            <a:ext cx="45720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14304E"/>
                </a:solidFill>
                <a:latin typeface="Aptos"/>
              </a:defRPr>
            </a:pPr>
            <a:r>
              <a:t>The re module provides common regex operations.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20240"/>
            <a:ext cx="4754880" cy="320040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C37"/>
                </a:solidFill>
                <a:latin typeface="Aptos"/>
              </a:defRPr>
            </a:pPr>
            <a:r>
              <a:t>• re.search(): finds the first match anywhere in text.</a:t>
            </a:r>
          </a:p>
          <a:p>
            <a:pPr>
              <a:spcAft>
                <a:spcPts val="1200"/>
              </a:spcAft>
              <a:defRPr sz="1600">
                <a:solidFill>
                  <a:srgbClr val="232C37"/>
                </a:solidFill>
                <a:latin typeface="Aptos"/>
              </a:defRPr>
            </a:pPr>
            <a:r>
              <a:t>• re.findall(): returns all non-overlapping matches.</a:t>
            </a:r>
          </a:p>
          <a:p>
            <a:pPr>
              <a:spcAft>
                <a:spcPts val="1200"/>
              </a:spcAft>
              <a:defRPr sz="1600">
                <a:solidFill>
                  <a:srgbClr val="232C37"/>
                </a:solidFill>
                <a:latin typeface="Aptos"/>
              </a:defRPr>
            </a:pPr>
            <a:r>
              <a:t>• re.sub(): replaces matched text with another value.</a:t>
            </a:r>
          </a:p>
          <a:p>
            <a:pPr>
              <a:spcAft>
                <a:spcPts val="1200"/>
              </a:spcAft>
              <a:defRPr sz="1600">
                <a:solidFill>
                  <a:srgbClr val="232C37"/>
                </a:solidFill>
                <a:latin typeface="Aptos"/>
              </a:defRPr>
            </a:pPr>
            <a:r>
              <a:t>• re.fullmatch(): checks whether the entire string fits a pattern.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417320"/>
            <a:ext cx="5532120" cy="4160520"/>
          </a:xfrm>
          <a:prstGeom prst="roundRect">
            <a:avLst>
              <a:gd name="adj" fmla="val 12000"/>
            </a:avLst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71031" y="1508760"/>
            <a:ext cx="5202936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84D7D8"/>
                </a:solidFill>
                <a:latin typeface="Aptos"/>
              </a:defRPr>
            </a:pPr>
            <a:r>
              <a:t>PYTHON • re 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1031" y="1783080"/>
            <a:ext cx="5202936" cy="3721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import re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text = "Order A123, then B456"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codes = re.findall(r"[A-Z]\d{3}", text)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print(codes)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print(re.sub(r"\d", "*", "Room 204"))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5715000"/>
            <a:ext cx="521208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2A8B5C"/>
                </a:solidFill>
                <a:latin typeface="Consolas"/>
              </a:defRPr>
            </a:pPr>
            <a:r>
              <a:t>Output: ['A123', 'B456']     Room ***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23560"/>
            <a:ext cx="46634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5F6C7A"/>
                </a:solidFill>
                <a:latin typeface="Aptos"/>
              </a:defRPr>
            </a:pPr>
            <a:r>
              <a:t>Use raw strings (r"...") to make backslashes easier to read.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4304E"/>
                </a:solidFill>
                <a:latin typeface="Aptos"/>
              </a:defRPr>
            </a:pPr>
            <a:r>
              <a:t>Use Case 1: Input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51560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008F97"/>
                </a:solidFill>
                <a:latin typeface="Aptos"/>
              </a:defRPr>
            </a:pPr>
            <a:r>
              <a:t>05 • VALIDATE STRUCTURED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13716"/>
          </a:xfrm>
          <a:prstGeom prst="rect">
            <a:avLst/>
          </a:prstGeom>
          <a:solidFill>
            <a:srgbClr val="D2DDE8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92240"/>
            <a:ext cx="45720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5F6C7A"/>
                </a:solidFill>
                <a:latin typeface="Aptos"/>
              </a:defRPr>
            </a:pPr>
            <a:r>
              <a:t>TECHNICAL PRESENTATION • TP-03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5F6C7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475488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14304E"/>
                </a:solidFill>
                <a:latin typeface="Aptos"/>
              </a:defRPr>
            </a:pPr>
            <a:r>
              <a:t>Validation checks whether input follows an expected format.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4663440" cy="310896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32C37"/>
                </a:solidFill>
                <a:latin typeface="Aptos"/>
              </a:defRPr>
            </a:pPr>
            <a:r>
              <a:t>• Phone format: check that a string contains exactly 10 digits.</a:t>
            </a:r>
          </a:p>
          <a:p>
            <a:pPr>
              <a:spcAft>
                <a:spcPts val="1100"/>
              </a:spcAft>
              <a:defRPr sz="1500">
                <a:solidFill>
                  <a:srgbClr val="232C37"/>
                </a:solidFill>
                <a:latin typeface="Aptos"/>
              </a:defRPr>
            </a:pPr>
            <a:r>
              <a:t>• Student ID: require a prefix followed by a fixed number of digits.</a:t>
            </a:r>
          </a:p>
          <a:p>
            <a:pPr>
              <a:spcAft>
                <a:spcPts val="1100"/>
              </a:spcAft>
              <a:defRPr sz="1500">
                <a:solidFill>
                  <a:srgbClr val="232C37"/>
                </a:solidFill>
                <a:latin typeface="Aptos"/>
              </a:defRPr>
            </a:pPr>
            <a:r>
              <a:t>• Date format: check the shape before validating calendar rules.</a:t>
            </a:r>
          </a:p>
          <a:p>
            <a:pPr>
              <a:spcAft>
                <a:spcPts val="1100"/>
              </a:spcAft>
              <a:defRPr sz="1500">
                <a:solidFill>
                  <a:srgbClr val="232C37"/>
                </a:solidFill>
                <a:latin typeface="Aptos"/>
              </a:defRPr>
            </a:pPr>
            <a:r>
              <a:t>• Important: a regex format check alone cannot prove input is real or valid.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1417320"/>
            <a:ext cx="5577840" cy="4160520"/>
          </a:xfrm>
          <a:prstGeom prst="roundRect">
            <a:avLst>
              <a:gd name="adj" fmla="val 12000"/>
            </a:avLst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79592" y="1508760"/>
            <a:ext cx="5248655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84D7D8"/>
                </a:solidFill>
                <a:latin typeface="Aptos"/>
              </a:defRPr>
            </a:pPr>
            <a:r>
              <a:t>PYTHON • re 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9592" y="1783080"/>
            <a:ext cx="5248655" cy="3721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import re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phone = "9876543210"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if re.fullmatch(r"\d{10}", phone):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  print("Format accepted")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else: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  print("Invalid format")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student_id = "CS2026"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print(bool(re.fullmatch(r"[A-Z]{2}\d{4}", student_id)))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5715000"/>
            <a:ext cx="521208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2A8B5C"/>
                </a:solidFill>
                <a:latin typeface="Consolas"/>
              </a:defRPr>
            </a:pPr>
            <a:r>
              <a:t>Output: Format accepted     True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4304E"/>
                </a:solidFill>
                <a:latin typeface="Aptos"/>
              </a:defRPr>
            </a:pPr>
            <a:r>
              <a:t>Use Case 2: Information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51560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008F97"/>
                </a:solidFill>
                <a:latin typeface="Aptos"/>
              </a:defRPr>
            </a:pPr>
            <a:r>
              <a:t>06 • FIND USEFUL DETAILS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13716"/>
          </a:xfrm>
          <a:prstGeom prst="rect">
            <a:avLst/>
          </a:prstGeom>
          <a:solidFill>
            <a:srgbClr val="D2DDE8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92240"/>
            <a:ext cx="45720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5F6C7A"/>
                </a:solidFill>
                <a:latin typeface="Aptos"/>
              </a:defRPr>
            </a:pPr>
            <a:r>
              <a:t>TECHNICAL PRESENTATION • TP-03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5F6C7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47548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14304E"/>
                </a:solidFill>
                <a:latin typeface="Aptos"/>
              </a:defRPr>
            </a:pPr>
            <a:r>
              <a:t>Regex can extract repeated items from messages and documents.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4663440" cy="310896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32C37"/>
                </a:solidFill>
                <a:latin typeface="Aptos"/>
              </a:defRPr>
            </a:pPr>
            <a:r>
              <a:t>• Emails: collect contact addresses from text.</a:t>
            </a:r>
          </a:p>
          <a:p>
            <a:pPr>
              <a:spcAft>
                <a:spcPts val="1100"/>
              </a:spcAft>
              <a:defRPr sz="1500">
                <a:solidFill>
                  <a:srgbClr val="232C37"/>
                </a:solidFill>
                <a:latin typeface="Aptos"/>
              </a:defRPr>
            </a:pPr>
            <a:r>
              <a:t>• URLs: identify links for further processing.</a:t>
            </a:r>
          </a:p>
          <a:p>
            <a:pPr>
              <a:spcAft>
                <a:spcPts val="1100"/>
              </a:spcAft>
              <a:defRPr sz="1500">
                <a:solidFill>
                  <a:srgbClr val="232C37"/>
                </a:solidFill>
                <a:latin typeface="Aptos"/>
              </a:defRPr>
            </a:pPr>
            <a:r>
              <a:t>• Order IDs: find values that follow a known naming convention.</a:t>
            </a:r>
          </a:p>
          <a:p>
            <a:pPr>
              <a:spcAft>
                <a:spcPts val="1100"/>
              </a:spcAft>
              <a:defRPr sz="1500">
                <a:solidFill>
                  <a:srgbClr val="232C37"/>
                </a:solidFill>
                <a:latin typeface="Aptos"/>
              </a:defRPr>
            </a:pPr>
            <a:r>
              <a:t>• Log values: extract timestamps, status codes, or IP-like strings.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1417320"/>
            <a:ext cx="5577840" cy="4160520"/>
          </a:xfrm>
          <a:prstGeom prst="roundRect">
            <a:avLst>
              <a:gd name="adj" fmla="val 12000"/>
            </a:avLst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79592" y="1508760"/>
            <a:ext cx="5248655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84D7D8"/>
                </a:solidFill>
                <a:latin typeface="Aptos"/>
              </a:defRPr>
            </a:pPr>
            <a:r>
              <a:t>PYTHON • re 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9592" y="1783080"/>
            <a:ext cx="5248655" cy="3721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import re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message = """Contact maya@example.com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or support.team@sample.org.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Ticket: INC-4821"""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emails = re.findall(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  r"[\w.-]+@[\w.-]+\.\w+", message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)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ticket = re.search(r"INC-\d{4}", message)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print(emails)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print(ticket.group() if ticket else "Not found")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5687568"/>
            <a:ext cx="530352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2A8B5C"/>
                </a:solidFill>
                <a:latin typeface="Consolas"/>
              </a:defRPr>
            </a:pPr>
            <a:r>
              <a:t>Output: ['maya@example.com', 'support.team@sample.org']</a:t>
            </a:r>
          </a:p>
          <a:p>
            <a:pPr algn="l">
              <a:spcAft>
                <a:spcPts val="500"/>
              </a:spcAft>
              <a:defRPr sz="1100" b="1">
                <a:solidFill>
                  <a:srgbClr val="2A8B5C"/>
                </a:solidFill>
                <a:latin typeface="Consolas"/>
              </a:defRPr>
            </a:pPr>
            <a:r>
              <a:t>INC-4821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4304E"/>
                </a:solidFill>
                <a:latin typeface="Aptos"/>
              </a:defRPr>
            </a:pPr>
            <a:r>
              <a:t>Use Case 3: Log Analysis and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51560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008F97"/>
                </a:solidFill>
                <a:latin typeface="Aptos"/>
              </a:defRPr>
            </a:pPr>
            <a:r>
              <a:t>07 • PATTERNS IN SYSTEM RECORDS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13716"/>
          </a:xfrm>
          <a:prstGeom prst="rect">
            <a:avLst/>
          </a:prstGeom>
          <a:solidFill>
            <a:srgbClr val="D2DDE8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92240"/>
            <a:ext cx="45720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5F6C7A"/>
                </a:solidFill>
                <a:latin typeface="Aptos"/>
              </a:defRPr>
            </a:pPr>
            <a:r>
              <a:t>TECHNICAL PRESENTATION • TP-03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5F6C7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1078992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14304E"/>
                </a:solidFill>
                <a:latin typeface="Aptos"/>
              </a:defRPr>
            </a:pPr>
            <a:r>
              <a:t>Logs contain repeated structures that can be searched automatically.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965960"/>
            <a:ext cx="4937760" cy="2240280"/>
          </a:xfrm>
          <a:prstGeom prst="roundRect">
            <a:avLst>
              <a:gd name="adj" fmla="val 12000"/>
            </a:avLst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4526280" cy="1783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2026-10-22 INFO Login successful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2026-10-22 ERROR Database timeout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2026-10-22 WARN Retry scheduled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2026-10-22 ERROR API unavailable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965960"/>
            <a:ext cx="475488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008F97"/>
                </a:solidFill>
                <a:latin typeface="Aptos"/>
              </a:defRPr>
            </a:pPr>
            <a:r>
              <a:t>A simple extraction pattern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331720"/>
            <a:ext cx="5257800" cy="1920240"/>
          </a:xfrm>
          <a:prstGeom prst="roundRect">
            <a:avLst>
              <a:gd name="adj" fmla="val 12000"/>
            </a:avLst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53912" y="2423160"/>
            <a:ext cx="4928616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84D7D8"/>
                </a:solidFill>
                <a:latin typeface="Aptos"/>
              </a:defRPr>
            </a:pPr>
            <a:r>
              <a:t>PYTHON • LOG 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2697479"/>
            <a:ext cx="4928616" cy="14813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import re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levels = re.findall(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    r"\b(INFO|WARN|ERROR)\b", log_text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)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print(levels)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572000"/>
            <a:ext cx="4846320" cy="731520"/>
          </a:xfrm>
          <a:prstGeom prst="roundRect">
            <a:avLst>
              <a:gd name="adj" fmla="val 12000"/>
            </a:avLst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4736592"/>
            <a:ext cx="44805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A8B5C"/>
                </a:solidFill>
                <a:latin typeface="Consolas"/>
              </a:defRPr>
            </a:pPr>
            <a:r>
              <a:t>Result: INFO, ERROR, WARN, 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09160"/>
            <a:ext cx="4663440" cy="8229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32C37"/>
                </a:solidFill>
                <a:latin typeface="Aptos"/>
              </a:defRPr>
            </a:pPr>
            <a:r>
              <a:t>Use extracted levels to count errors, build reports, or alert an operator. Regex detects patterns; monitoring logic decides what action to take.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4304E"/>
                </a:solidFill>
                <a:latin typeface="Aptos"/>
              </a:defRPr>
            </a:pPr>
            <a:r>
              <a:t>Use Case 4: Text Cleaning and Normalization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51560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008F97"/>
                </a:solidFill>
                <a:latin typeface="Aptos"/>
              </a:defRPr>
            </a:pPr>
            <a:r>
              <a:t>08 • PREPARE DATA FOR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13716"/>
          </a:xfrm>
          <a:prstGeom prst="rect">
            <a:avLst/>
          </a:prstGeom>
          <a:solidFill>
            <a:srgbClr val="D2DDE8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92240"/>
            <a:ext cx="45720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5F6C7A"/>
                </a:solidFill>
                <a:latin typeface="Aptos"/>
              </a:defRPr>
            </a:pPr>
            <a:r>
              <a:t>TECHNICAL PRESENTATION • TP-03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5F6C7A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107899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14304E"/>
                </a:solidFill>
                <a:latin typeface="Aptos"/>
              </a:defRPr>
            </a:pPr>
            <a:r>
              <a:t>Regex replacement can remove unwanted characters and standardize 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57400"/>
            <a:ext cx="4114800" cy="123444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240280"/>
            <a:ext cx="36576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BC3E3E"/>
                </a:solidFill>
                <a:latin typeface="Aptos"/>
              </a:defRPr>
            </a:pPr>
            <a:r>
              <a:t>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78608"/>
            <a:ext cx="36576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000" b="0">
                <a:solidFill>
                  <a:srgbClr val="232C37"/>
                </a:solidFill>
                <a:latin typeface="Consolas"/>
              </a:defRPr>
            </a:pPr>
            <a:r>
              <a:t>Order #  A-123 !!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359152"/>
            <a:ext cx="128016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008F9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057400"/>
            <a:ext cx="4114800" cy="1234440"/>
          </a:xfrm>
          <a:prstGeom prst="roundRect">
            <a:avLst>
              <a:gd name="adj" fmla="val 12000"/>
            </a:avLst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2240280"/>
            <a:ext cx="36576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A8B5C"/>
                </a:solidFill>
                <a:latin typeface="Aptos"/>
              </a:defRPr>
            </a:pPr>
            <a:r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578608"/>
            <a:ext cx="36576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000" b="0">
                <a:solidFill>
                  <a:srgbClr val="232C37"/>
                </a:solidFill>
                <a:latin typeface="Consolas"/>
              </a:defRPr>
            </a:pPr>
            <a:r>
              <a:t>Order  A123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749039"/>
            <a:ext cx="5486400" cy="1874519"/>
          </a:xfrm>
          <a:prstGeom prst="roundRect">
            <a:avLst>
              <a:gd name="adj" fmla="val 12000"/>
            </a:avLst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3840479"/>
            <a:ext cx="5157216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84D7D8"/>
                </a:solidFill>
                <a:latin typeface="Aptos"/>
              </a:defRPr>
            </a:pPr>
            <a:r>
              <a:t>PYTHON • CLEANING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4114800"/>
            <a:ext cx="5157216" cy="143560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import re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raw = "Order #  A-123 !!"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clean = re.sub(r"[^A-Za-z0-9 ]", "", raw)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clean = re.sub(r"\s+", " ", clean).strip()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print(clean)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977639"/>
            <a:ext cx="3840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4304E"/>
                </a:solidFill>
                <a:latin typeface="Aptos"/>
              </a:defRPr>
            </a:pPr>
            <a:r>
              <a:t>Common tasks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4343400"/>
            <a:ext cx="4023360" cy="155448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2C37"/>
                </a:solidFill>
                <a:latin typeface="Aptos"/>
              </a:defRPr>
            </a:pPr>
            <a:r>
              <a:t>• Remove repeated whitespace.</a:t>
            </a:r>
          </a:p>
          <a:p>
            <a:pPr>
              <a:spcAft>
                <a:spcPts val="500"/>
              </a:spcAft>
              <a:defRPr sz="1300">
                <a:solidFill>
                  <a:srgbClr val="232C37"/>
                </a:solidFill>
                <a:latin typeface="Aptos"/>
              </a:defRPr>
            </a:pPr>
            <a:r>
              <a:t>• Mask sensitive digits before sharing logs.</a:t>
            </a:r>
          </a:p>
          <a:p>
            <a:pPr>
              <a:spcAft>
                <a:spcPts val="500"/>
              </a:spcAft>
              <a:defRPr sz="1300">
                <a:solidFill>
                  <a:srgbClr val="232C37"/>
                </a:solidFill>
                <a:latin typeface="Aptos"/>
              </a:defRPr>
            </a:pPr>
            <a:r>
              <a:t>• Normalize separators or remove markup.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4304E"/>
                </a:solidFill>
                <a:latin typeface="Aptos"/>
              </a:defRPr>
            </a:pPr>
            <a:r>
              <a:t>Good Practices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51560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008F97"/>
                </a:solidFill>
                <a:latin typeface="Aptos"/>
              </a:defRPr>
            </a:pPr>
            <a:r>
              <a:t>09 • USE REGEX RESPONSIBLY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13716"/>
          </a:xfrm>
          <a:prstGeom prst="rect">
            <a:avLst/>
          </a:prstGeom>
          <a:solidFill>
            <a:srgbClr val="D2DDE8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92240"/>
            <a:ext cx="45720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5F6C7A"/>
                </a:solidFill>
                <a:latin typeface="Aptos"/>
              </a:defRPr>
            </a:pPr>
            <a:r>
              <a:t>TECHNICAL PRESENTATION • TP-03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5F6C7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521208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2A8B5C"/>
                </a:solidFill>
                <a:latin typeface="Aptos"/>
              </a:defRPr>
            </a:pPr>
            <a:r>
              <a:t>What regex does 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5029200" cy="347472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32C37"/>
                </a:solidFill>
                <a:latin typeface="Aptos"/>
              </a:defRPr>
            </a:pPr>
            <a:r>
              <a:t>• Fast for many local text patterns.</a:t>
            </a:r>
          </a:p>
          <a:p>
            <a:pPr>
              <a:spcAft>
                <a:spcPts val="1100"/>
              </a:spcAft>
              <a:defRPr sz="1500">
                <a:solidFill>
                  <a:srgbClr val="232C37"/>
                </a:solidFill>
                <a:latin typeface="Aptos"/>
              </a:defRPr>
            </a:pPr>
            <a:r>
              <a:t>• Useful for repeated, predictable formats.</a:t>
            </a:r>
          </a:p>
          <a:p>
            <a:pPr>
              <a:spcAft>
                <a:spcPts val="1100"/>
              </a:spcAft>
              <a:defRPr sz="1500">
                <a:solidFill>
                  <a:srgbClr val="232C37"/>
                </a:solidFill>
                <a:latin typeface="Aptos"/>
              </a:defRPr>
            </a:pPr>
            <a:r>
              <a:t>• Easy to integrate into scripts and pipelines.</a:t>
            </a:r>
          </a:p>
          <a:p>
            <a:pPr>
              <a:spcAft>
                <a:spcPts val="1100"/>
              </a:spcAft>
              <a:defRPr sz="1500">
                <a:solidFill>
                  <a:srgbClr val="232C37"/>
                </a:solidFill>
                <a:latin typeface="Aptos"/>
              </a:defRPr>
            </a:pPr>
            <a:r>
              <a:t>• Readable patterns can replace many manual steps.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25880"/>
            <a:ext cx="512064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BC3E3E"/>
                </a:solidFill>
                <a:latin typeface="Aptos"/>
              </a:defRPr>
            </a:pPr>
            <a:r>
              <a:t>Where to be careful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029200" cy="347472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32C37"/>
                </a:solidFill>
                <a:latin typeface="Aptos"/>
              </a:defRPr>
            </a:pPr>
            <a:r>
              <a:t>• Complex nested structures may need a parser.</a:t>
            </a:r>
          </a:p>
          <a:p>
            <a:pPr>
              <a:spcAft>
                <a:spcPts val="1100"/>
              </a:spcAft>
              <a:defRPr sz="1500">
                <a:solidFill>
                  <a:srgbClr val="232C37"/>
                </a:solidFill>
                <a:latin typeface="Aptos"/>
              </a:defRPr>
            </a:pPr>
            <a:r>
              <a:t>• A format match does not guarantee real-world validity.</a:t>
            </a:r>
          </a:p>
          <a:p>
            <a:pPr>
              <a:spcAft>
                <a:spcPts val="1100"/>
              </a:spcAft>
              <a:defRPr sz="1500">
                <a:solidFill>
                  <a:srgbClr val="232C37"/>
                </a:solidFill>
                <a:latin typeface="Aptos"/>
              </a:defRPr>
            </a:pPr>
            <a:r>
              <a:t>• Greedy patterns can capture too much text.</a:t>
            </a:r>
          </a:p>
          <a:p>
            <a:pPr>
              <a:spcAft>
                <a:spcPts val="1100"/>
              </a:spcAft>
              <a:defRPr sz="1500">
                <a:solidFill>
                  <a:srgbClr val="232C37"/>
                </a:solidFill>
                <a:latin typeface="Aptos"/>
              </a:defRPr>
            </a:pPr>
            <a:r>
              <a:t>• Untrusted patterns or huge inputs can create performance risks.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623560"/>
            <a:ext cx="10469880" cy="457200"/>
          </a:xfrm>
          <a:prstGeom prst="roundRect">
            <a:avLst>
              <a:gd name="adj" fmla="val 12000"/>
            </a:avLst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5724144"/>
            <a:ext cx="100584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4304E"/>
                </a:solidFill>
                <a:latin typeface="Aptos"/>
              </a:defRPr>
            </a:pPr>
            <a:r>
              <a:t>Best practice: keep patterns focused, test edge cases, and prefer a parser for structured languages.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4304E"/>
                </a:solidFill>
                <a:latin typeface="Aptos"/>
              </a:defRPr>
            </a:pPr>
            <a:r>
              <a:t>Mini Demonstration: From Text to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51560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008F97"/>
                </a:solidFill>
                <a:latin typeface="Aptos"/>
              </a:defRPr>
            </a:pPr>
            <a:r>
              <a:t>10 • END-TO-END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13716"/>
          </a:xfrm>
          <a:prstGeom prst="rect">
            <a:avLst/>
          </a:prstGeom>
          <a:solidFill>
            <a:srgbClr val="D2DDE8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92240"/>
            <a:ext cx="45720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5F6C7A"/>
                </a:solidFill>
                <a:latin typeface="Aptos"/>
              </a:defRPr>
            </a:pPr>
            <a:r>
              <a:t>TECHNICAL PRESENTATION • TP-03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5F6C7A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1078992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4304E"/>
                </a:solidFill>
                <a:latin typeface="Aptos"/>
              </a:defRPr>
            </a:pPr>
            <a:r>
              <a:t>Goal: extract order IDs and email addresses from a short support message.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48840"/>
            <a:ext cx="3154680" cy="182880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50392" y="2304288"/>
            <a:ext cx="384048" cy="310896"/>
          </a:xfrm>
          <a:prstGeom prst="roundRect">
            <a:avLst>
              <a:gd name="adj" fmla="val 12000"/>
            </a:avLst>
          </a:prstGeom>
          <a:solidFill>
            <a:srgbClr val="2467A0"/>
          </a:solidFill>
          <a:ln>
            <a:solidFill>
              <a:srgbClr val="246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2327148"/>
            <a:ext cx="310896" cy="23774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2304288"/>
            <a:ext cx="22860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304E"/>
                </a:solidFill>
                <a:latin typeface="Aptos"/>
              </a:defRPr>
            </a:pPr>
            <a:r>
              <a:t>Raw message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788920"/>
            <a:ext cx="2788920" cy="9601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32C37"/>
                </a:solidFill>
                <a:latin typeface="Aptos"/>
              </a:defRPr>
            </a:pPr>
            <a:r>
              <a:t>Please contact</a:t>
            </a:r>
          </a:p>
          <a:p>
            <a:pPr algn="ctr">
              <a:spcAft>
                <a:spcPts val="500"/>
              </a:spcAft>
              <a:defRPr sz="1300" b="0">
                <a:solidFill>
                  <a:srgbClr val="232C37"/>
                </a:solidFill>
                <a:latin typeface="Aptos"/>
              </a:defRPr>
            </a:pPr>
            <a:r>
              <a:t>lee@shop.io</a:t>
            </a:r>
          </a:p>
          <a:p>
            <a:pPr algn="ctr">
              <a:spcAft>
                <a:spcPts val="500"/>
              </a:spcAft>
              <a:defRPr sz="1300" b="0">
                <a:solidFill>
                  <a:srgbClr val="232C37"/>
                </a:solidFill>
                <a:latin typeface="Aptos"/>
              </a:defRPr>
            </a:pPr>
            <a:r>
              <a:t>about order ORD-2048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4487" y="2788920"/>
            <a:ext cx="5029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008F9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2148840"/>
            <a:ext cx="3154680" cy="182880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645152" y="2304288"/>
            <a:ext cx="384048" cy="310896"/>
          </a:xfrm>
          <a:prstGeom prst="roundRect">
            <a:avLst>
              <a:gd name="adj" fmla="val 12000"/>
            </a:avLst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81728" y="2327148"/>
            <a:ext cx="310896" cy="23774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304288"/>
            <a:ext cx="22860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304E"/>
                </a:solidFill>
                <a:latin typeface="Aptos"/>
              </a:defRPr>
            </a:pPr>
            <a:r>
              <a:t>Regex patterns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788920"/>
            <a:ext cx="2788920" cy="9601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32C37"/>
                </a:solidFill>
                <a:latin typeface="Consolas"/>
              </a:defRPr>
            </a:pPr>
            <a:r>
              <a:t>[\w.-]+@[\w.-]+\.\w+</a:t>
            </a:r>
          </a:p>
          <a:p>
            <a:pPr algn="ctr">
              <a:spcAft>
                <a:spcPts val="500"/>
              </a:spcAft>
              <a:defRPr sz="1300" b="0">
                <a:solidFill>
                  <a:srgbClr val="232C37"/>
                </a:solidFill>
                <a:latin typeface="Consolas"/>
              </a:defRPr>
            </a:pPr>
            <a:r>
              <a:t>ORD-\d{4}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2788920"/>
            <a:ext cx="5029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008F9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2148840"/>
            <a:ext cx="3154680" cy="182880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439912" y="2304288"/>
            <a:ext cx="384048" cy="310896"/>
          </a:xfrm>
          <a:prstGeom prst="roundRect">
            <a:avLst>
              <a:gd name="adj" fmla="val 12000"/>
            </a:avLst>
          </a:prstGeom>
          <a:solidFill>
            <a:srgbClr val="2A8B5C"/>
          </a:solidFill>
          <a:ln>
            <a:solidFill>
              <a:srgbClr val="2A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76488" y="2327148"/>
            <a:ext cx="310896" cy="23774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33688" y="2304288"/>
            <a:ext cx="22860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304E"/>
                </a:solidFill>
                <a:latin typeface="Aptos"/>
              </a:defRPr>
            </a:pPr>
            <a:r>
              <a:t>Extract matches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788920"/>
            <a:ext cx="2788920" cy="9601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32C37"/>
                </a:solidFill>
                <a:latin typeface="Aptos"/>
              </a:defRPr>
            </a:pPr>
            <a:r>
              <a:t>lee@shop.io</a:t>
            </a:r>
          </a:p>
          <a:p>
            <a:pPr algn="ctr">
              <a:spcAft>
                <a:spcPts val="500"/>
              </a:spcAft>
              <a:defRPr sz="1300" b="0">
                <a:solidFill>
                  <a:srgbClr val="232C37"/>
                </a:solidFill>
                <a:latin typeface="Aptos"/>
              </a:defRPr>
            </a:pPr>
            <a:r>
              <a:t>ORD-2048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389120"/>
            <a:ext cx="6537960" cy="1508760"/>
          </a:xfrm>
          <a:prstGeom prst="roundRect">
            <a:avLst>
              <a:gd name="adj" fmla="val 12000"/>
            </a:avLst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" y="4480559"/>
            <a:ext cx="6208776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84D7D8"/>
                </a:solidFill>
                <a:latin typeface="Aptos"/>
              </a:defRPr>
            </a:pPr>
            <a:r>
              <a:t>PYTHON • COMPLETE 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4754880"/>
            <a:ext cx="6208776" cy="10698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FFFFFF"/>
                </a:solidFill>
                <a:latin typeface="Consolas"/>
              </a:defRPr>
            </a:pPr>
            <a:r>
              <a:t>import re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FFFFFF"/>
                </a:solidFill>
                <a:latin typeface="Consolas"/>
              </a:defRPr>
            </a:pPr>
            <a:r>
              <a:t>msg = "Contact lee@shop.io about order ORD-2048"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FFFFFF"/>
                </a:solidFill>
                <a:latin typeface="Consolas"/>
              </a:defRPr>
            </a:pPr>
            <a:r>
              <a:t>print(re.findall(r"[\w.-]+@[\w.-]+\.\w+", msg))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FFFFFF"/>
                </a:solidFill>
                <a:latin typeface="Consolas"/>
              </a:defRPr>
            </a:pPr>
            <a:r>
              <a:t>print(re.findall(r"ORD-\d{4}", msg))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18120" y="4526280"/>
            <a:ext cx="3246120" cy="1051560"/>
          </a:xfrm>
          <a:prstGeom prst="roundRect">
            <a:avLst>
              <a:gd name="adj" fmla="val 12000"/>
            </a:avLst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46720" y="4709160"/>
            <a:ext cx="2788920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A8B5C"/>
                </a:solidFill>
                <a:latin typeface="Consolas"/>
              </a:defRPr>
            </a:pPr>
            <a:r>
              <a:t>Email: lee@shop.io</a:t>
            </a:r>
          </a:p>
          <a:p>
            <a:pPr algn="l">
              <a:spcAft>
                <a:spcPts val="500"/>
              </a:spcAft>
              <a:defRPr sz="1300" b="1">
                <a:solidFill>
                  <a:srgbClr val="2A8B5C"/>
                </a:solidFill>
                <a:latin typeface="Consolas"/>
              </a:defRPr>
            </a:pPr>
            <a:r>
              <a:t>Order: ORD-2048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6126480"/>
            <a:ext cx="101498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5F6C7A"/>
                </a:solidFill>
                <a:latin typeface="Aptos"/>
              </a:defRPr>
            </a:pPr>
            <a:r>
              <a:t>Try changing the email, order number, or message text to observe how the matches change.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0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F97"/>
          </a:solidFill>
          <a:ln>
            <a:solidFill>
              <a:srgbClr val="00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51560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74DADA"/>
                </a:solidFill>
                <a:latin typeface="Aptos"/>
              </a:defRPr>
            </a:pPr>
            <a:r>
              <a:t>11 • CONCLUSION AND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13716"/>
          </a:xfrm>
          <a:prstGeom prst="rect">
            <a:avLst/>
          </a:prstGeom>
          <a:solidFill>
            <a:srgbClr val="34688F"/>
          </a:solidFill>
          <a:ln>
            <a:solidFill>
              <a:srgbClr val="346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92240"/>
            <a:ext cx="45720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C4D4E4"/>
                </a:solidFill>
                <a:latin typeface="Aptos"/>
              </a:defRPr>
            </a:pPr>
            <a:r>
              <a:t>TECHNICAL PRESENTATION • TP-03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C4D4E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6629400" cy="356616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Regex describes patterns: it can match characters, repetition, and positions.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Practical uses include validation, extraction, log analysis, and cleaning.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Python's re module makes these tasks easy to automate.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Test edge cases and use parsers when regex is not enough.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1508760"/>
            <a:ext cx="3291840" cy="2423160"/>
          </a:xfrm>
          <a:prstGeom prst="roundRect">
            <a:avLst>
              <a:gd name="adj" fmla="val 12000"/>
            </a:avLst>
          </a:prstGeom>
          <a:solidFill>
            <a:srgbClr val="193D60"/>
          </a:solidFill>
          <a:ln>
            <a:solidFill>
              <a:srgbClr val="346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79" y="1783080"/>
            <a:ext cx="27432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74DADA"/>
                </a:solidFill>
                <a:latin typeface="Aptos"/>
              </a:defRPr>
            </a:pPr>
            <a:r>
              <a:t>PATTERN → MATCH →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331720"/>
            <a:ext cx="2651760" cy="10058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Find it.</a:t>
            </a:r>
          </a:p>
          <a:p>
            <a:pPr algn="ctr"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Check it.</a:t>
            </a:r>
          </a:p>
          <a:p>
            <a:pPr algn="ctr"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Use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257800"/>
            <a:ext cx="68580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300" b="1">
                <a:solidFill>
                  <a:srgbClr val="74DADA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06440"/>
            <a:ext cx="71323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D3E2EF"/>
                </a:solidFill>
                <a:latin typeface="Aptos"/>
              </a:defRPr>
            </a:pPr>
            <a:r>
              <a:t>Questions and discussion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3086C8-BCF9-9A7C-7DCB-0683C04A1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390" y="770669"/>
            <a:ext cx="3987496" cy="5316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895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1476</Words>
  <Application>Microsoft Office PowerPoint</Application>
  <PresentationFormat>Widescreen</PresentationFormat>
  <Paragraphs>248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Nandu Vardhan</cp:lastModifiedBy>
  <cp:revision>3</cp:revision>
  <dcterms:created xsi:type="dcterms:W3CDTF">2013-01-27T09:14:16Z</dcterms:created>
  <dcterms:modified xsi:type="dcterms:W3CDTF">2026-10-22T09:19:23Z</dcterms:modified>
  <cp:category/>
</cp:coreProperties>
</file>